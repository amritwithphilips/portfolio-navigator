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8cfe56d3b44756" /><Relationship Type="http://schemas.openxmlformats.org/officeDocument/2006/relationships/extended-properties" Target="/docProps/app.xml" Id="Rd14b5860be26427a" /><Relationship Type="http://schemas.openxmlformats.org/officeDocument/2006/relationships/officeDocument" Target="/ppt/presentation.xml" Id="Rb2404254931849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7749dc14e4408a"/>
  </p:sldMasterIdLst>
  <p:notesMasterIdLst>
    <p:notesMasterId xmlns:r="http://schemas.openxmlformats.org/officeDocument/2006/relationships" r:id="R28b2060ea32947dd"/>
  </p:notesMasterIdLst>
  <p:sldIdLst>
    <p:sldId xmlns:r="http://schemas.openxmlformats.org/officeDocument/2006/relationships" id="256" r:id="Raf7eb357ae4341bf"/>
    <p:sldId xmlns:r="http://schemas.openxmlformats.org/officeDocument/2006/relationships" id="257" r:id="R2d490043b86548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0d5ca790e04b5a" /><Relationship Type="http://schemas.openxmlformats.org/officeDocument/2006/relationships/slideMaster" Target="/ppt/slideMasters/slideMaster1.xml" Id="Rc97749dc14e4408a" /><Relationship Type="http://schemas.openxmlformats.org/officeDocument/2006/relationships/notesMaster" Target="/ppt/notesMasters/notesMaster1.xml" Id="R28b2060ea32947dd" /><Relationship Type="http://schemas.openxmlformats.org/officeDocument/2006/relationships/presProps" Target="/ppt/presProps.xml" Id="Rcf71507d2e314ce4" /><Relationship Type="http://schemas.openxmlformats.org/officeDocument/2006/relationships/tableStyles" Target="/ppt/tableStyles.xml" Id="R95026532445842de" /><Relationship Type="http://schemas.openxmlformats.org/officeDocument/2006/relationships/slide" Target="/ppt/slides/slide1.xml" Id="Raf7eb357ae4341bf" /><Relationship Type="http://schemas.openxmlformats.org/officeDocument/2006/relationships/slide" Target="/ppt/slides/slide2.xml" Id="R2d490043b86548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e6a0a173d48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c8143118bb4a79" /><Relationship Type="http://schemas.openxmlformats.org/officeDocument/2006/relationships/notesMaster" Target="/ppt/notesMasters/notesMaster1.xml" Id="Rd60d481cd66649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833c3922504040" /><Relationship Type="http://schemas.openxmlformats.org/officeDocument/2006/relationships/notesMaster" Target="/ppt/notesMasters/notesMaster1.xml" Id="R0bf64e37d71048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15926_IT AOP2027 Demand.xlsx. SHA-256: 4ca3c6d4295996c1ff3062d22679ef272ee88a38a6050e112014e5ce25e2ba89. Demand and row counts come from the authoritative workbook. The 100.0 M€ AOP is a management planning input in the current model and is not an approved amount in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15926_IT AOP2027 Demand.xlsx. SHA-256: 4ca3c6d4295996c1ff3062d22679ef272ee88a38a6050e112014e5ce25e2ba89. Scenario outputs come from the shared AOP2027 engine. The 100.0 M€ envelope is illustrative. Scenario 1 selected 102.592 M€ across 154 initiatives. Scenario 2 selected 97.117 M€ across 150 initiatives. Scenario 3 selected 98.992 M€ across 152 initiatives. Displayed values use ceiling rounding to one decimal.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88069f9334b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fcf383f6e4f9e" /><Relationship Type="http://schemas.openxmlformats.org/officeDocument/2006/relationships/slideLayout" Target="/ppt/slideLayouts/slideLayout1.xml" Id="R5b5db00bfe0d4a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db00bfe0d4a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876d42eea4c46" /><Relationship Type="http://schemas.openxmlformats.org/officeDocument/2006/relationships/chart" Target="/ppt/slides/charts/chart1.xml" Id="Re73951a08e494782" /><Relationship Type="http://schemas.openxmlformats.org/officeDocument/2006/relationships/notesSlide" Target="/ppt/notesSlides/notesSlide1.xml" Id="R0c8830ae994e4c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cfff7d0464f31" /><Relationship Type="http://schemas.openxmlformats.org/officeDocument/2006/relationships/notesSlide" Target="/ppt/notesSlides/notesSlide2.xml" Id="R2115651d5d8849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Requested investment</c:v>
          </c:tx>
          <c:spPr>
            <a:solidFill xmlns:a="http://schemas.openxmlformats.org/drawingml/2006/main">
              <a:srgbClr val="0B5E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5E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CA70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Demand</c:v>
                </c:pt>
                <c:pt idx="1">
                  <c:v>Illustrative AOP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279.6</c:v>
                </c:pt>
                <c:pt idx="1">
                  <c:v>100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126E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2D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3704D-2127-48A1-9F12-1ACE6208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62724-7695-4807-B577-D4034134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9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126E"/>
                </a:solidFill>
                <a:latin typeface="Arial"/>
                <a:ea typeface="Arial"/>
                <a:cs typeface="Arial"/>
              </a:rPr>
              <a:t>279.6 M€ demand requires a controlled funding sequence before conferences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05268-7AB3-4E2F-8B4D-DE1F2F4D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The source contains 509 demand rows. The approved Total AOP envelope is not present in the workbook.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34D45-02BA-4D8A-A132-E7DA9564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126E"/>
                </a:solidFill>
                <a:latin typeface="Arial"/>
                <a:ea typeface="Arial"/>
                <a:cs typeface="Arial"/>
              </a:rPr>
              <a:t>Requested investment (M€)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4381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3951a08e49478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38945-730A-4D2E-91A6-18D519CF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30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43F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43F44"/>
                </a:solidFill>
                <a:latin typeface="Arial"/>
                <a:ea typeface="Arial"/>
                <a:cs typeface="Arial"/>
              </a:rPr>
              <a:t>179.6 M€ gap to the current planning illustration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E7021-BA6E-49F8-BF68-EFDF6893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43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126E"/>
                </a:solidFill>
                <a:latin typeface="Arial"/>
                <a:ea typeface="Arial"/>
                <a:cs typeface="Arial"/>
              </a:rPr>
              <a:t>Fixed funding order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5619750" y="1847850"/>
          <a:ext xmlns:a="http://schemas.openxmlformats.org/drawingml/2006/main" cx="58864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"/>
                <a:gridCol w="2286000"/>
                <a:gridCol w="3162300"/>
              </a:tblGrid>
              <a:tr h="323850">
                <a:tc>
                  <a:txBody>
                    <a:bodyPr/>
                    <a:lstStyle/>
                    <a:p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Visible control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LFR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Arial"/>
                          <a:ea typeface="Arial"/>
                          <a:cs typeface="Arial"/>
                        </a:rPr>
                        <a:t>Percentage of bucket or Total AOP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Sustain Engineering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Arial"/>
                          <a:ea typeface="Arial"/>
                          <a:cs typeface="Arial"/>
                        </a:rPr>
                        <a:t>Percentage of bucket or Total AOP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Hygiene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Arial"/>
                          <a:ea typeface="Arial"/>
                          <a:cs typeface="Arial"/>
                        </a:rPr>
                        <a:t>Percentage of bucket or Total AOP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Carryover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Arial"/>
                          <a:ea typeface="Arial"/>
                          <a:cs typeface="Arial"/>
                        </a:rPr>
                        <a:t>1x to 5x+ benefit threshold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ROI-Based Portfolio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Arial"/>
                          <a:ea typeface="Arial"/>
                          <a:cs typeface="Arial"/>
                        </a:rPr>
                        <a:t>Remaining eligible AOP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E4F3E-8EB9-4713-B879-B6FF09A3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BDF0FF"/>
          </a:solidFill>
          <a:ln xmlns:a="http://schemas.openxmlformats.org/drawingml/2006/main" w="9525">
            <a:solidFill>
              <a:srgbClr val="0B5ED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DE682-6B89-40A2-A1C2-FAC610A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126E"/>
                </a:solidFill>
                <a:latin typeface="Arial"/>
                <a:ea typeface="Arial"/>
                <a:cs typeface="Arial"/>
              </a:rPr>
              <a:t>Leadership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DADA5-CE3E-4B62-AAD1-C15EC76B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126E"/>
                </a:solidFill>
                <a:latin typeface="Arial"/>
                <a:ea typeface="Arial"/>
                <a:cs typeface="Arial"/>
              </a:rPr>
              <a:t>Confirm the Total AOP envelope and the LFR, Sustain Engineering and Hygiene reservation settings before BU and EW conferences. Use whole initiatives and show any variance.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2AF26-677B-4869-8880-33E78103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Source: 15926_IT AOP2027 Demand.xlsx. All displayed values rounded upward to 0.1. 100.0 M€ is illustrative.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CE4F1-5E76-4A15-A70F-1921AC48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5198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A4F6C-9293-42C7-8D3E-9E1F8B03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6538E-533F-431B-9F5A-5EEFEDFE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19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126E"/>
                </a:solidFill>
                <a:latin typeface="Arial"/>
                <a:ea typeface="Arial"/>
                <a:cs typeface="Arial"/>
              </a:rPr>
              <a:t>Scenario choice changes evidence and coverage, not the fixed funding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F14E8-2B60-43F1-9F5C-C3C63AFC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All scenarios use a 100.0 M€ illustrative envelope, 5% whole-initiative tolerance and no conference overrides.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52600"/>
                <a:gridCol w="4629150"/>
                <a:gridCol w="1390650"/>
                <a:gridCol w="1581150"/>
                <a:gridCol w="1466850"/>
              </a:tblGrid>
              <a:tr h="381000">
                <a:tc>
                  <a:txBody>
                    <a:bodyPr/>
                    <a:lstStyle/>
                    <a:p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Selected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Variance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b="1">
                          <a:latin typeface="Arial"/>
                          <a:ea typeface="Arial"/>
                          <a:cs typeface="Arial"/>
                        </a:rPr>
                        <a:t>Initiatives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1. Protect commitments</a:t>
                      </a:r>
                    </a:p>
                  </a:txBody>
                  <a:tcPr marL="91440" marR="91440" marT="45720" marB="45720" anchor="ctr">
                    <a:solidFill>
                      <a:srgbClr val="BDF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Arial"/>
                          <a:ea typeface="Arial"/>
                          <a:cs typeface="Arial"/>
                        </a:rPr>
                        <a:t>LFR and Sustain Engineering: 100% of bucket. Hygiene: 10% of AOP. Carryover: 2x.</a:t>
                      </a:r>
                    </a:p>
                  </a:txBody>
                  <a:tcPr marL="91440" marR="91440" marT="45720" marB="45720">
                    <a:solidFill>
                      <a:srgbClr val="BD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Arial"/>
                          <a:ea typeface="Arial"/>
                          <a:cs typeface="Arial"/>
                        </a:rPr>
                        <a:t>102.6 M€</a:t>
                      </a:r>
                    </a:p>
                  </a:txBody>
                  <a:tcPr marL="91440" marR="91440" marT="45720" marB="45720" anchor="ctr">
                    <a:solidFill>
                      <a:srgbClr val="BD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D43F44"/>
                          </a:solidFill>
                          <a:latin typeface="Arial"/>
                          <a:ea typeface="Arial"/>
                          <a:cs typeface="Arial"/>
                        </a:rPr>
                        <a:t>2.6 M€ over</a:t>
                      </a:r>
                    </a:p>
                  </a:txBody>
                  <a:tcPr marL="91440" marR="91440" marT="45720" marB="45720" anchor="ctr">
                    <a:solidFill>
                      <a:srgbClr val="BD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154</a:t>
                      </a:r>
                    </a:p>
                  </a:txBody>
                  <a:tcPr marL="91440" marR="91440" marT="45720" marB="45720" anchor="ctr">
                    <a:solidFill>
                      <a:srgbClr val="BDF0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2. Evidence controlled</a:t>
                      </a:r>
                    </a:p>
                  </a:txBody>
                  <a:tcPr marL="91440" marR="91440" marT="45720" marB="4572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Arial"/>
                          <a:ea typeface="Arial"/>
                          <a:cs typeface="Arial"/>
                        </a:rPr>
                        <a:t>Same reservations. Carryover: 3x. Advanced merit threshold: 45.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Arial"/>
                          <a:ea typeface="Arial"/>
                          <a:cs typeface="Arial"/>
                        </a:rPr>
                        <a:t>97.2 M€</a:t>
                      </a:r>
                    </a:p>
                  </a:txBody>
                  <a:tcPr marL="91440" marR="91440" marT="45720" marB="4572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8800"/>
                          </a:solidFill>
                          <a:latin typeface="Arial"/>
                          <a:ea typeface="Arial"/>
                          <a:cs typeface="Arial"/>
                        </a:rPr>
                        <a:t>2.9 M€ headroom</a:t>
                      </a:r>
                    </a:p>
                  </a:txBody>
                  <a:tcPr marL="91440" marR="91440" marT="45720" marB="4572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150</a:t>
                      </a:r>
                    </a:p>
                  </a:txBody>
                  <a:tcPr marL="91440" marR="91440" marT="45720" marB="45720" anchor="ctr">
                    <a:solidFill>
                      <a:srgbClr val="F2F5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3. Capacity managed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>
                          <a:latin typeface="Arial"/>
                          <a:ea typeface="Arial"/>
                          <a:cs typeface="Arial"/>
                        </a:rPr>
                        <a:t>LFR: 100%. Sustain Engineering: 75% of bucket. Hygiene: 10% of AOP. Carryover: 2x.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5ED7"/>
                          </a:solidFill>
                          <a:latin typeface="Arial"/>
                          <a:ea typeface="Arial"/>
                          <a:cs typeface="Arial"/>
                        </a:rPr>
                        <a:t>99.0 M€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8800"/>
                          </a:solidFill>
                          <a:latin typeface="Arial"/>
                          <a:ea typeface="Arial"/>
                          <a:cs typeface="Arial"/>
                        </a:rPr>
                        <a:t>1.1 M€ headroom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126E"/>
                          </a:solidFill>
                          <a:latin typeface="Arial"/>
                          <a:ea typeface="Arial"/>
                          <a:cs typeface="Arial"/>
                        </a:rPr>
                        <a:t>152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D431C-123D-4E78-860C-2479B96A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6705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BDF0FF"/>
          </a:solidFill>
          <a:ln xmlns:a="http://schemas.openxmlformats.org/drawingml/2006/main" w="9525">
            <a:solidFill>
              <a:srgbClr val="0B5ED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5D475-C055-4CA3-B1B4-37DD8EFB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126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66A3-3515-4E69-B7B1-9F33BBA7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624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126E"/>
                </a:solidFill>
                <a:latin typeface="Arial"/>
                <a:ea typeface="Arial"/>
                <a:cs typeface="Arial"/>
              </a:rPr>
              <a:t>Use Scenario 1 as the BU and EW conference baseline. It protects the defined obligation and Sustain Engineering positions, then makes the 2.6 M€ tolerance variance explicit for leadership acceptance.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D76B0-EA90-4AD4-8452-A66178F7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05350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FCC2"/>
          </a:solidFill>
          <a:ln xmlns:a="http://schemas.openxmlformats.org/drawingml/2006/main" w="9525">
            <a:solidFill>
              <a:srgbClr val="FCA70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927F5-8358-41A1-A42C-30AB9484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76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126E"/>
                </a:solidFill>
                <a:latin typeface="Arial"/>
                <a:ea typeface="Arial"/>
                <a:cs typeface="Arial"/>
              </a:rPr>
              <a:t>Decision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C23D9-B17A-4843-A27D-4B366DCB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816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12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126E"/>
                </a:solidFill>
                <a:latin typeface="Arial"/>
                <a:ea typeface="Arial"/>
                <a:cs typeface="Arial"/>
              </a:rPr>
              <a:t>CIO / ITLT confirms the envelope and scenario. Finance validates the basis. BU and EW leaders record any whole-initiative exception and rationale.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ED705-622F-4C0B-AB7D-C8824BD2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Source: 15926_IT AOP2027 Demand.xlsx and shared AOP2027 calculation engine. Values rounded upward to 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7A088-48BC-4B92-B7D0-6961E0C2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3425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2026-09-16T15:22:18.0920000Z</dcterms:created>
  <dcterms:modified xsi:type="dcterms:W3CDTF">2026-09-16T15:22:18.0930000Z</dcterms:modified>
</coreProperties>
</file>