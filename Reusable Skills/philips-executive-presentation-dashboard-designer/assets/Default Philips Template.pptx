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11" r:id="rId15"/>
  </p:sldMasterIdLst>
  <p:notesMasterIdLst>
    <p:notesMasterId r:id="rId22"/>
  </p:notesMasterIdLst>
  <p:handoutMasterIdLst>
    <p:handoutMasterId r:id="rId23"/>
  </p:handoutMasterIdLst>
  <p:sldIdLst>
    <p:sldId id="2147482497" r:id="rId16"/>
    <p:sldId id="2147482501" r:id="rId17"/>
    <p:sldId id="2147482506" r:id="rId18"/>
    <p:sldId id="2147482502" r:id="rId19"/>
    <p:sldId id="2147482499" r:id="rId20"/>
    <p:sldId id="2147482508" r:id="rId21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53F028-A2E4-E24B-A222-7DB4617B18BB}">
          <p14:sldIdLst>
            <p14:sldId id="2147482497"/>
            <p14:sldId id="2147482501"/>
            <p14:sldId id="2147482506"/>
            <p14:sldId id="2147482502"/>
            <p14:sldId id="2147482499"/>
            <p14:sldId id="21474825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FDB"/>
    <a:srgbClr val="FFE050"/>
    <a:srgbClr val="FFED5E"/>
    <a:srgbClr val="02ABB1"/>
    <a:srgbClr val="00666F"/>
    <a:srgbClr val="FCFCC2"/>
    <a:srgbClr val="ADF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45B2A2-7A3B-485D-B775-B53179733AD8}" v="7" dt="2024-11-01T16:31:31.0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0017" autoAdjust="0"/>
  </p:normalViewPr>
  <p:slideViewPr>
    <p:cSldViewPr snapToGrid="0">
      <p:cViewPr varScale="1">
        <p:scale>
          <a:sx n="101" d="100"/>
          <a:sy n="101" d="100"/>
        </p:scale>
        <p:origin x="907" y="67"/>
      </p:cViewPr>
      <p:guideLst>
        <p:guide orient="horz" pos="1620"/>
        <p:guide pos="2880"/>
      </p:guideLst>
    </p:cSldViewPr>
  </p:slideViewPr>
  <p:outlineViewPr>
    <p:cViewPr>
      <p:scale>
        <a:sx n="70" d="100"/>
        <a:sy n="70" d="100"/>
      </p:scale>
      <p:origin x="-80" y="-501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292"/>
    </p:cViewPr>
  </p:sorterViewPr>
  <p:notesViewPr>
    <p:cSldViewPr snapToGrid="0" showGuides="1">
      <p:cViewPr>
        <p:scale>
          <a:sx n="109" d="100"/>
          <a:sy n="109" d="100"/>
        </p:scale>
        <p:origin x="3666" y="456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slide" Target="slides/slide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6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Master" Target="slideMasters/slideMaster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customXml" Target="../customXml/item10.xml"/><Relationship Id="rId19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8487FA-FF84-1B5E-CCCB-2A088FAB9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77DAF-43A1-58DD-E748-93BE0ACB5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211C-4A9E-8C4C-97BD-75A74A820AC7}" type="datetimeFigureOut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5/11/2026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04EE5-42B0-7389-3EEA-8484AE07F1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68BA1-9C50-DD81-9DB3-53BBF5BA2C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AC1E4-93AF-6C46-A091-93B307E81D8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99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33895C0-2991-1741-81AF-563E5518032A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875E972-9F07-2B4C-A7FE-11ACC38BEE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32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119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147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145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71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6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14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675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00"/>
            <a:ext cx="605028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316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6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324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5304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5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36576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2104" y="1839282"/>
            <a:ext cx="3657280" cy="2856543"/>
          </a:xfrm>
        </p:spPr>
        <p:txBody>
          <a:bodyPr/>
          <a:lstStyle>
            <a:lvl1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List item</a:t>
            </a:r>
          </a:p>
          <a:p>
            <a:pPr lvl="1"/>
            <a:r>
              <a:rPr lang="en-US" dirty="0"/>
              <a:t>List item</a:t>
            </a:r>
          </a:p>
          <a:p>
            <a:pPr lvl="2"/>
            <a:r>
              <a:rPr lang="en-US" dirty="0"/>
              <a:t>List item</a:t>
            </a:r>
          </a:p>
          <a:p>
            <a:pPr lvl="3"/>
            <a:r>
              <a:rPr lang="en-US" dirty="0"/>
              <a:t>List item</a:t>
            </a:r>
          </a:p>
          <a:p>
            <a:pPr lvl="4"/>
            <a:r>
              <a:rPr lang="en-US" dirty="0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20"/>
            <a:ext cx="3657281" cy="71913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BDF0FF"/>
                </a:solidFill>
              </a:defRPr>
            </a:lvl1pPr>
          </a:lstStyle>
          <a:p>
            <a:r>
              <a:rPr lang="en-US" dirty="0"/>
              <a:t>Type your headline here </a:t>
            </a:r>
            <a:br>
              <a:rPr lang="en-US" dirty="0"/>
            </a:br>
            <a:r>
              <a:rPr lang="en-US" dirty="0"/>
              <a:t>(ex: Agenda)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104" y="613446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04" y="373904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Meeting/Event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3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White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404327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Light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4936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31" y="2212183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8" y="1648421"/>
            <a:ext cx="8138161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1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White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269343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Light blue divider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11710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4904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0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66540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53714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3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2" y="1211263"/>
            <a:ext cx="8138160" cy="34848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3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33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10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77488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116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180" y="0"/>
            <a:ext cx="5888736" cy="51435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405178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589082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1081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69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028322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22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3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028323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18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14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227EF0-9C60-2003-D6BA-C8BAF06217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9" y="376241"/>
            <a:ext cx="8132765" cy="7191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Type your slide headline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02C94-33CD-D1CE-02FF-FB1D35E386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9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2" r:id="rId4"/>
    <p:sldLayoutId id="2147484073" r:id="rId5"/>
    <p:sldLayoutId id="2147484077" r:id="rId6"/>
    <p:sldLayoutId id="2147484078" r:id="rId7"/>
    <p:sldLayoutId id="2147484079" r:id="rId8"/>
    <p:sldLayoutId id="2147484080" r:id="rId9"/>
    <p:sldLayoutId id="2147484046" r:id="rId10"/>
    <p:sldLayoutId id="2147484047" r:id="rId11"/>
    <p:sldLayoutId id="2147484048" r:id="rId12"/>
    <p:sldLayoutId id="2147484050" r:id="rId13"/>
    <p:sldLayoutId id="2147484049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67" r:id="rId28"/>
    <p:sldLayoutId id="2147484068" r:id="rId29"/>
    <p:sldLayoutId id="2147484081" r:id="rId30"/>
    <p:sldLayoutId id="2147484069" r:id="rId31"/>
    <p:sldLayoutId id="2147484082" r:id="rId32"/>
    <p:sldLayoutId id="2147484070" r:id="rId33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2952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4428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5904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7380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IN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8856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lang="en-US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0332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1808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3284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7" orient="horz" pos="2964" userDrawn="1">
          <p15:clr>
            <a:srgbClr val="A4A3A4"/>
          </p15:clr>
        </p15:guide>
        <p15:guide id="15" orient="horz" pos="1620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13.xml"/><Relationship Id="rId5" Type="http://schemas.openxmlformats.org/officeDocument/2006/relationships/image" Target="../media/image14.gif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8.xml"/><Relationship Id="rId6" Type="http://schemas.openxmlformats.org/officeDocument/2006/relationships/image" Target="../media/image15.gif"/><Relationship Id="rId5" Type="http://schemas.openxmlformats.org/officeDocument/2006/relationships/hyperlink" Target="mailto:brand.desk@philips.com?subject=PowerPoint%20Templafy%20Additions" TargetMode="Externa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2.jpeg"/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17.jpeg"/><Relationship Id="rId12" Type="http://schemas.openxmlformats.org/officeDocument/2006/relationships/image" Target="../media/image21.jpeg"/><Relationship Id="rId2" Type="http://schemas.openxmlformats.org/officeDocument/2006/relationships/customXml" Target="../../customXml/item12.xml"/><Relationship Id="rId16" Type="http://schemas.openxmlformats.org/officeDocument/2006/relationships/hyperlink" Target="https://www.ourbrand.philips.com/m/7019d4b12896c63e/original/Quick-guide-for-Philips-PPT-template.pdf" TargetMode="External"/><Relationship Id="rId1" Type="http://schemas.openxmlformats.org/officeDocument/2006/relationships/customXml" Target="../../customXml/item3.xml"/><Relationship Id="rId6" Type="http://schemas.openxmlformats.org/officeDocument/2006/relationships/hyperlink" Target="https://www.ourbrand.philips.com/guidelines/guide/0c2aaa33-dfab-4093-8e90-d5de4d126ec0/page/259a3aef-8655-40a5-b722-a701cc2fbd2c" TargetMode="External"/><Relationship Id="rId11" Type="http://schemas.openxmlformats.org/officeDocument/2006/relationships/image" Target="../media/image20.jpeg"/><Relationship Id="rId5" Type="http://schemas.openxmlformats.org/officeDocument/2006/relationships/image" Target="../media/image16.png"/><Relationship Id="rId15" Type="http://schemas.openxmlformats.org/officeDocument/2006/relationships/hyperlink" Target="https://www.ourbrand.philips.com/guidelines/guide/0c2aaa33-dfab-4093-8e90-d5de4d126ec0/page/35907fd0-ab3c-4c95-91f9-b25390432df3" TargetMode="External"/><Relationship Id="rId10" Type="http://schemas.openxmlformats.org/officeDocument/2006/relationships/image" Target="../media/image19.jpeg"/><Relationship Id="rId4" Type="http://schemas.openxmlformats.org/officeDocument/2006/relationships/notesSlide" Target="../notesSlides/notesSlide4.xml"/><Relationship Id="rId9" Type="http://schemas.openxmlformats.org/officeDocument/2006/relationships/hyperlink" Target="https://www.ourbrand.philips.com/guidelines/guide/0c2aaa33-dfab-4093-8e90-d5de4d126ec0/page/f9499b53-6c10-4035-b80f-68cbc3cf6451" TargetMode="External"/><Relationship Id="rId14" Type="http://schemas.openxmlformats.org/officeDocument/2006/relationships/image" Target="../media/image2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1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23D56D-2602-1CA4-D934-27C1FEA954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25C764-DDCB-4F05-7113-2932D81595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37346D-2BA7-B9D4-6229-2291F2EA0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0D8A56-E6CD-5FD7-E320-F1D29502F0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B594E9-6228-DC14-39DA-DF89DB34ED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2" hidden="1">
            <a:extLst>
              <a:ext uri="{FF2B5EF4-FFF2-40B4-BE49-F238E27FC236}">
                <a16:creationId xmlns:a16="http://schemas.microsoft.com/office/drawing/2014/main" id="{0747556C-BFCF-7ED2-06D4-00F0C3CF9E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719138"/>
            <a:ext cx="8132763" cy="1714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Presentation cover slide example: Vertical white logo on blue background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7555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B0CAF5-43F3-E1DD-C609-643950E206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" name="Title 31">
            <a:extLst>
              <a:ext uri="{FF2B5EF4-FFF2-40B4-BE49-F238E27FC236}">
                <a16:creationId xmlns:a16="http://schemas.microsoft.com/office/drawing/2014/main" id="{013DB8CA-62D2-E1E9-D8CD-3E1BC886CD9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458788"/>
            <a:ext cx="8137525" cy="23971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FAQ: How do I create a presentation using the new template?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alpha val="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E4FCA1-C631-67A9-EA1B-5DF6CEC3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1179873"/>
          </a:xfrm>
          <a:prstGeom prst="rect">
            <a:avLst/>
          </a:prstGeom>
          <a:solidFill>
            <a:srgbClr val="0B5ED7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Aft>
                <a:spcPts val="600"/>
              </a:spcAft>
            </a:pPr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772E44-5417-F7C2-4744-0C7129D0731E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557148245"/>
              </p:ext>
            </p:extLst>
          </p:nvPr>
        </p:nvGraphicFramePr>
        <p:xfrm>
          <a:off x="403165" y="1359775"/>
          <a:ext cx="8503920" cy="3541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673525309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90199577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145147974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1403775750"/>
                    </a:ext>
                  </a:extLst>
                </a:gridCol>
              </a:tblGrid>
              <a:tr h="346447">
                <a:tc>
                  <a:txBody>
                    <a:bodyPr/>
                    <a:lstStyle/>
                    <a:p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3038" indent="-173038">
                        <a:spcAft>
                          <a:spcPts val="600"/>
                        </a:spcAft>
                        <a:buSzPct val="110000"/>
                        <a:buFont typeface="+mj-lt"/>
                        <a:buAutoNum type="arabicPeriod"/>
                        <a:tabLst/>
                      </a:pPr>
                      <a:r>
                        <a:rPr lang="en-US" sz="1000" b="1" dirty="0">
                          <a:solidFill>
                            <a:srgbClr val="00126E"/>
                          </a:solidFill>
                        </a:rPr>
                        <a:t>Ensure Templafy is on your computer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3038" indent="-173038" algn="l" defTabSz="914354" rtl="0" eaLnBrk="1" latinLnBrk="0" hangingPunct="1">
                        <a:spcAft>
                          <a:spcPts val="600"/>
                        </a:spcAft>
                        <a:buSzPct val="110000"/>
                        <a:buFont typeface="+mj-lt"/>
                        <a:buAutoNum type="arabicPeriod" startAt="2"/>
                        <a:tabLst/>
                      </a:pPr>
                      <a:r>
                        <a:rPr lang="en-US" sz="1000" b="1" kern="1200" dirty="0">
                          <a:solidFill>
                            <a:srgbClr val="00126E"/>
                          </a:solidFill>
                          <a:latin typeface="+mn-lt"/>
                          <a:ea typeface="+mn-ea"/>
                          <a:cs typeface="+mn-cs"/>
                        </a:rPr>
                        <a:t>Start from scratch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3038" marR="0" lvl="0" indent="-173038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10000"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126E"/>
                          </a:solidFill>
                        </a:rPr>
                        <a:t>Choose your slides</a:t>
                      </a:r>
                    </a:p>
                    <a:p>
                      <a:endParaRPr lang="en-US" sz="1000" b="1" dirty="0">
                        <a:solidFill>
                          <a:srgbClr val="00126E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487242"/>
                  </a:ext>
                </a:extLst>
              </a:tr>
              <a:tr h="129844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+mn-lt"/>
                        </a:rPr>
                        <a:t>PC</a:t>
                      </a:r>
                    </a:p>
                  </a:txBody>
                  <a:tcPr marT="9144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Templafy is 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pre-installed</a:t>
                      </a:r>
                      <a:r>
                        <a:rPr lang="en-US" sz="900" dirty="0"/>
                        <a:t> on your computer.</a:t>
                      </a:r>
                    </a:p>
                  </a:txBody>
                  <a:tcPr marT="91440" marB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indent="-6350">
                        <a:spcAft>
                          <a:spcPts val="1200"/>
                        </a:spcAft>
                      </a:pPr>
                      <a:r>
                        <a:rPr lang="en-US" sz="900" dirty="0"/>
                        <a:t>	Open a </a:t>
                      </a:r>
                      <a:r>
                        <a:rPr lang="en-US" sz="900" b="1" dirty="0">
                          <a:solidFill>
                            <a:schemeClr val="tx2"/>
                          </a:solidFill>
                        </a:rPr>
                        <a:t>New Presentation </a:t>
                      </a:r>
                      <a:r>
                        <a:rPr lang="en-US" sz="900" dirty="0"/>
                        <a:t>like usual to automatically launch the new template.</a:t>
                      </a:r>
                    </a:p>
                    <a:p>
                      <a:pPr marL="6350" indent="-6350">
                        <a:spcAft>
                          <a:spcPts val="1200"/>
                        </a:spcAft>
                      </a:pPr>
                      <a:r>
                        <a:rPr lang="en-US" sz="900" dirty="0"/>
                        <a:t> Alternatively, click </a:t>
                      </a:r>
                      <a:r>
                        <a:rPr lang="en-US" sz="900" b="1" dirty="0">
                          <a:solidFill>
                            <a:srgbClr val="0B5ED7"/>
                          </a:solidFill>
                        </a:rPr>
                        <a:t>New Presentation</a:t>
                      </a:r>
                      <a:r>
                        <a:rPr lang="en-US" sz="900" dirty="0"/>
                        <a:t> next to the Templafy logo in the PowerPoint Ribbon.</a:t>
                      </a:r>
                    </a:p>
                  </a:txBody>
                  <a:tcPr marT="91440" marB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2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Both systems:</a:t>
                      </a:r>
                    </a:p>
                    <a:p>
                      <a:pPr marL="146304" marR="0" lvl="2" indent="-146304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en-US" sz="900" b="1" dirty="0">
                          <a:solidFill>
                            <a:srgbClr val="0B5ED7"/>
                          </a:solidFill>
                        </a:rPr>
                        <a:t>New Slide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 or </a:t>
                      </a:r>
                      <a:r>
                        <a:rPr lang="en-US" sz="900" b="1" dirty="0">
                          <a:solidFill>
                            <a:srgbClr val="0B5ED7"/>
                          </a:solidFill>
                        </a:rPr>
                        <a:t>Layout 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to view available slide formats. </a:t>
                      </a:r>
                    </a:p>
                    <a:p>
                      <a:pPr marL="146304" marR="0" lvl="2" indent="-146304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Click a </a:t>
                      </a:r>
                      <a:br>
                        <a:rPr lang="en-US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slide to </a:t>
                      </a:r>
                      <a:br>
                        <a:rPr lang="en-US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insert it</a:t>
                      </a:r>
                    </a:p>
                    <a:p>
                      <a:pPr marL="146304" marR="0" lvl="2" indent="-146304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790445"/>
                  </a:ext>
                </a:extLst>
              </a:tr>
              <a:tr h="184708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+mn-lt"/>
                        </a:rPr>
                        <a:t>Mac</a:t>
                      </a:r>
                    </a:p>
                  </a:txBody>
                  <a:tcPr marT="9144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46304" marR="0" lvl="2" indent="-146304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Navigate to the top Menu bar</a:t>
                      </a:r>
                    </a:p>
                    <a:p>
                      <a:pPr marL="146304" marR="0" lvl="2" indent="-146304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Select </a:t>
                      </a: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5ED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Insert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5ED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5ED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Add-ins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&gt; </a:t>
                      </a:r>
                      <a:b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5ED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My add-ins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5ED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… </a:t>
                      </a:r>
                    </a:p>
                    <a:p>
                      <a:pPr marL="146304" marR="0" lvl="2" indent="-146304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Select </a:t>
                      </a: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5ED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Admin-Managed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5ED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at the top of Microsoft’s pop-up window</a:t>
                      </a:r>
                    </a:p>
                    <a:p>
                      <a:pPr marL="146304" marR="0" lvl="2" indent="-146304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Select </a:t>
                      </a: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5ED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Templafy</a:t>
                      </a:r>
                    </a:p>
                  </a:txBody>
                  <a:tcPr marT="91440" marB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46304" lvl="2" indent="-146304">
                        <a:spcAft>
                          <a:spcPts val="1200"/>
                        </a:spcAft>
                        <a:buFont typeface="+mj-lt"/>
                        <a:buAutoNum type="arabicPeriod"/>
                      </a:pPr>
                      <a:r>
                        <a:rPr lang="en-US" sz="900" dirty="0"/>
                        <a:t>Start a new presentation from the PowerPoint home screen or </a:t>
                      </a:r>
                      <a:r>
                        <a:rPr lang="en-US" sz="900" b="1" dirty="0">
                          <a:solidFill>
                            <a:srgbClr val="0B5ED7"/>
                          </a:solidFill>
                        </a:rPr>
                        <a:t>File</a:t>
                      </a:r>
                      <a:r>
                        <a:rPr lang="en-US" sz="900" dirty="0">
                          <a:solidFill>
                            <a:srgbClr val="0B5ED7"/>
                          </a:solidFill>
                        </a:rPr>
                        <a:t> </a:t>
                      </a:r>
                      <a:r>
                        <a:rPr lang="en-US" sz="900" dirty="0"/>
                        <a:t>&gt; </a:t>
                      </a:r>
                      <a:r>
                        <a:rPr lang="en-US" sz="900" b="1" dirty="0">
                          <a:solidFill>
                            <a:srgbClr val="0B5ED7"/>
                          </a:solidFill>
                        </a:rPr>
                        <a:t>New Presentation</a:t>
                      </a:r>
                      <a:r>
                        <a:rPr lang="en-US" sz="900" dirty="0"/>
                        <a:t>. </a:t>
                      </a:r>
                      <a:br>
                        <a:rPr lang="en-US" sz="900" dirty="0"/>
                      </a:br>
                      <a:r>
                        <a:rPr lang="en-US" sz="900" dirty="0"/>
                        <a:t>Templafy options will appear in the PowerPoint Ribbon. </a:t>
                      </a:r>
                    </a:p>
                    <a:p>
                      <a:pPr marL="146304" lvl="2" indent="-146304">
                        <a:spcAft>
                          <a:spcPts val="1200"/>
                        </a:spcAft>
                        <a:buFont typeface="+mj-lt"/>
                        <a:buAutoNum type="arabicPeriod"/>
                      </a:pPr>
                      <a:r>
                        <a:rPr lang="en-US" sz="900" dirty="0"/>
                        <a:t>Click </a:t>
                      </a:r>
                      <a:r>
                        <a:rPr lang="en-US" sz="900" b="1" dirty="0">
                          <a:solidFill>
                            <a:srgbClr val="0B5ED7"/>
                          </a:solidFill>
                        </a:rPr>
                        <a:t>Blank Presentation</a:t>
                      </a:r>
                      <a:r>
                        <a:rPr lang="en-US" sz="900" dirty="0">
                          <a:solidFill>
                            <a:srgbClr val="0B5ED7"/>
                          </a:solidFill>
                        </a:rPr>
                        <a:t> </a:t>
                      </a:r>
                      <a:r>
                        <a:rPr lang="en-US" sz="900" dirty="0"/>
                        <a:t>in the Ribbon to open a fresh Philips PowerPoint deck</a:t>
                      </a:r>
                      <a:endParaRPr lang="en-US" sz="900" b="1" dirty="0">
                        <a:solidFill>
                          <a:srgbClr val="00126E"/>
                        </a:solidFill>
                      </a:endParaRPr>
                    </a:p>
                  </a:txBody>
                  <a:tcPr marT="91440" marB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234950" lvl="2" indent="-228600">
                        <a:spcAft>
                          <a:spcPts val="1200"/>
                        </a:spcAft>
                        <a:buFont typeface="+mj-lt"/>
                        <a:buAutoNum type="arabicPeriod"/>
                      </a:pPr>
                      <a:endParaRPr lang="en-US" sz="900" b="1" dirty="0">
                        <a:solidFill>
                          <a:srgbClr val="00126E"/>
                        </a:solidFill>
                      </a:endParaRPr>
                    </a:p>
                  </a:txBody>
                  <a:tcPr marT="91440" marB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992483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812C472C-A67D-828E-D36F-B55562C5E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59771" y="1333168"/>
            <a:ext cx="3199002" cy="3457830"/>
            <a:chOff x="959526" y="1333168"/>
            <a:chExt cx="3199002" cy="345783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A9DCAC-B511-3764-D2D1-35083F9667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158528" y="3099358"/>
              <a:ext cx="0" cy="169164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781DA97-5A72-F3A6-758B-1AEC49A29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57145" y="3099358"/>
              <a:ext cx="0" cy="169164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0CB0262-CB76-6A18-4465-B78C85352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59526" y="3099358"/>
              <a:ext cx="0" cy="169164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20CADB7-A5A3-8E56-5F97-2C5A506B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158528" y="1807549"/>
              <a:ext cx="0" cy="118872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359E388-9314-42C8-EEA5-C1A69D735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57145" y="1807549"/>
              <a:ext cx="0" cy="118872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CC85A9C-DE85-E43C-57A4-DD3CB4897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59526" y="1807549"/>
              <a:ext cx="0" cy="118872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0C512ED-5EA5-38E2-D269-1961B14712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158528" y="1333168"/>
              <a:ext cx="0" cy="371292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228A52-4B5B-AF24-95AD-CF860B632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57145" y="1333168"/>
              <a:ext cx="0" cy="371292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5CD5182-69F2-E736-1549-DE885D669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59526" y="1333168"/>
              <a:ext cx="0" cy="371292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2751CA7-30A1-DCA2-F568-FEFDF2FE1F6E}"/>
              </a:ext>
            </a:extLst>
          </p:cNvPr>
          <p:cNvSpPr txBox="1">
            <a:spLocks/>
          </p:cNvSpPr>
          <p:nvPr/>
        </p:nvSpPr>
        <p:spPr>
          <a:xfrm>
            <a:off x="503237" y="240930"/>
            <a:ext cx="8137525" cy="719137"/>
          </a:xfrm>
          <a:prstGeom prst="rect">
            <a:avLst/>
          </a:prstGeom>
          <a:noFill/>
        </p:spPr>
        <p:txBody>
          <a:bodyPr vert="horz" lIns="0" tIns="9144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BDF0FF"/>
                </a:solidFill>
                <a:latin typeface="+mn-lt"/>
              </a:rPr>
              <a:t>FAQ: </a:t>
            </a:r>
            <a:r>
              <a:rPr lang="en-US" sz="1400" dirty="0">
                <a:solidFill>
                  <a:schemeClr val="bg1"/>
                </a:solidFill>
              </a:rPr>
              <a:t>How do I create a presentation using the new template?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BDF0FF"/>
                </a:solidFill>
                <a:latin typeface="+mn-lt"/>
              </a:rPr>
              <a:t>Answer: </a:t>
            </a:r>
            <a:r>
              <a:rPr lang="en-US" sz="1400" dirty="0">
                <a:solidFill>
                  <a:schemeClr val="bg1"/>
                </a:solidFill>
              </a:rPr>
              <a:t>Instructions vary based on operating system. Follow the three steps below…</a:t>
            </a:r>
          </a:p>
        </p:txBody>
      </p:sp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DDAB3693-5759-15EF-039B-FEA310E3E2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591" y="2454442"/>
            <a:ext cx="4007765" cy="2254368"/>
          </a:xfrm>
          <a:prstGeom prst="rect">
            <a:avLst/>
          </a:prstGeom>
        </p:spPr>
      </p:pic>
      <p:sp>
        <p:nvSpPr>
          <p:cNvPr id="22" name="Arc 21">
            <a:extLst>
              <a:ext uri="{FF2B5EF4-FFF2-40B4-BE49-F238E27FC236}">
                <a16:creationId xmlns:a16="http://schemas.microsoft.com/office/drawing/2014/main" id="{E8A87C37-7D35-886D-D56B-BDE6BC871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389667">
            <a:off x="4921875" y="2257342"/>
            <a:ext cx="399622" cy="340018"/>
          </a:xfrm>
          <a:prstGeom prst="arc">
            <a:avLst>
              <a:gd name="adj1" fmla="val 17312193"/>
              <a:gd name="adj2" fmla="val 596689"/>
            </a:avLst>
          </a:prstGeom>
          <a:ln w="15875">
            <a:solidFill>
              <a:srgbClr val="D43F44"/>
            </a:solidFill>
            <a:headEnd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7B8D8B-1770-7A13-2469-F796BA348B9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77517" y="-13069"/>
            <a:ext cx="166648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91440" rIns="91440" bIns="9144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600" b="1" dirty="0">
                <a:solidFill>
                  <a:schemeClr val="bg1"/>
                </a:solidFill>
              </a:rPr>
              <a:t>Delete this resource slide before sharing your file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1193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dec="http://schemas.microsoft.com/office/drawing/2017/decorative" xmlns:a16="http://schemas.microsoft.com/office/drawing/2014/main"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C53BC-F282-2E29-7C96-AA85990F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82C5DD-75A0-DFA5-86C1-16A8D86A68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ED2C1F49-83C8-DAA2-25D3-E239C57AD0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1803400"/>
            <a:ext cx="8132763" cy="169862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900" b="1" dirty="0">
                <a:solidFill>
                  <a:srgbClr val="BDF0FF">
                    <a:alpha val="0"/>
                  </a:srgbClr>
                </a:solidFill>
              </a:rPr>
              <a:t>FAQ: </a:t>
            </a:r>
            <a:r>
              <a:rPr lang="en-US" sz="900" dirty="0">
                <a:solidFill>
                  <a:schemeClr val="bg1">
                    <a:alpha val="0"/>
                  </a:schemeClr>
                </a:solidFill>
              </a:rPr>
              <a:t>Why should I use Templafy?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6B8E3D-2B3D-A90A-46EA-09FAFF8BA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1179873"/>
          </a:xfrm>
          <a:prstGeom prst="rect">
            <a:avLst/>
          </a:prstGeom>
          <a:solidFill>
            <a:srgbClr val="0B5ED7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Aft>
                <a:spcPts val="600"/>
              </a:spcAft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AE7DB4-9D3B-6732-2FC5-C33FA159A339}"/>
              </a:ext>
            </a:extLst>
          </p:cNvPr>
          <p:cNvSpPr txBox="1"/>
          <p:nvPr/>
        </p:nvSpPr>
        <p:spPr>
          <a:xfrm>
            <a:off x="6603100" y="2969872"/>
            <a:ext cx="2324332" cy="17389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00" b="1" dirty="0"/>
              <a:t>Missing anything?</a:t>
            </a:r>
          </a:p>
          <a:p>
            <a:pPr>
              <a:spcAft>
                <a:spcPts val="600"/>
              </a:spcAft>
            </a:pPr>
            <a:r>
              <a:rPr lang="en-US" sz="800" dirty="0"/>
              <a:t>If you're missing content or have a template, document, or element that would be useful to a larger group of at least 1000 users, it may be eligible to be added to Templafy.</a:t>
            </a:r>
          </a:p>
          <a:p>
            <a:pPr>
              <a:spcAft>
                <a:spcPts val="600"/>
              </a:spcAft>
            </a:pPr>
            <a:r>
              <a:rPr lang="en-US" sz="800" dirty="0"/>
              <a:t>Please email your suggestion to </a:t>
            </a:r>
            <a:r>
              <a:rPr lang="en-US" sz="800" dirty="0">
                <a:hlinkClick r:id="rId5" tooltip="email address"/>
              </a:rPr>
              <a:t>brand.desk@philips.com</a:t>
            </a:r>
            <a:r>
              <a:rPr lang="en-US" sz="800" dirty="0"/>
              <a:t> with the following information:</a:t>
            </a:r>
          </a:p>
          <a:p>
            <a:pPr marL="117475" indent="-117475">
              <a:buFont typeface="Calibri" panose="020B0604020202020204" pitchFamily="34" charset="0"/>
              <a:buChar char="•"/>
              <a:tabLst>
                <a:tab pos="52388" algn="l"/>
              </a:tabLst>
            </a:pPr>
            <a:r>
              <a:rPr lang="en-US" sz="800" dirty="0"/>
              <a:t>Description of content and purpose.</a:t>
            </a:r>
          </a:p>
          <a:p>
            <a:pPr marL="117475" indent="-117475">
              <a:buFont typeface="Calibri" panose="020B0604020202020204" pitchFamily="34" charset="0"/>
              <a:buChar char="•"/>
              <a:tabLst>
                <a:tab pos="52388" algn="l"/>
              </a:tabLst>
            </a:pPr>
            <a:r>
              <a:rPr lang="en-US" sz="800" dirty="0"/>
              <a:t>Description of users.</a:t>
            </a:r>
          </a:p>
          <a:p>
            <a:pPr marL="117475" indent="-117475">
              <a:buFont typeface="Calibri" panose="020B0604020202020204" pitchFamily="34" charset="0"/>
              <a:buChar char="•"/>
              <a:tabLst>
                <a:tab pos="52388" algn="l"/>
              </a:tabLst>
            </a:pPr>
            <a:r>
              <a:rPr lang="en-US" sz="800" dirty="0"/>
              <a:t>Owner of the content.</a:t>
            </a:r>
          </a:p>
          <a:p>
            <a:pPr marL="117475" indent="-117475">
              <a:buFont typeface="Calibri" panose="020B0604020202020204" pitchFamily="34" charset="0"/>
              <a:buChar char="•"/>
              <a:tabLst>
                <a:tab pos="52388" algn="l"/>
              </a:tabLst>
            </a:pPr>
            <a:r>
              <a:rPr lang="en-US" sz="800" dirty="0"/>
              <a:t>The actual document if it already exists.</a:t>
            </a:r>
          </a:p>
        </p:txBody>
      </p:sp>
      <p:pic>
        <p:nvPicPr>
          <p:cNvPr id="5" name="Picture 4" descr="Templafy navigation demonstration">
            <a:extLst>
              <a:ext uri="{FF2B5EF4-FFF2-40B4-BE49-F238E27FC236}">
                <a16:creationId xmlns:a16="http://schemas.microsoft.com/office/drawing/2014/main" id="{2BDE4EB1-B542-D75F-EBF7-C4AD378243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" y="1586615"/>
            <a:ext cx="5550568" cy="31221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62D90C-C551-A1AA-B373-E3181F7C6F76}"/>
              </a:ext>
            </a:extLst>
          </p:cNvPr>
          <p:cNvSpPr txBox="1"/>
          <p:nvPr/>
        </p:nvSpPr>
        <p:spPr>
          <a:xfrm>
            <a:off x="6603100" y="1590668"/>
            <a:ext cx="2143292" cy="1069524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bIns="9144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50" dirty="0"/>
              <a:t>Templafy includes a </a:t>
            </a:r>
            <a:r>
              <a:rPr lang="en-US" sz="1050" b="1" dirty="0">
                <a:solidFill>
                  <a:srgbClr val="0B5ED7"/>
                </a:solidFill>
              </a:rPr>
              <a:t>library of slides </a:t>
            </a:r>
            <a:r>
              <a:rPr lang="en-US" sz="1050" dirty="0"/>
              <a:t>and </a:t>
            </a:r>
            <a:r>
              <a:rPr lang="en-US" sz="1050" b="1" dirty="0">
                <a:solidFill>
                  <a:srgbClr val="0B5ED7"/>
                </a:solidFill>
              </a:rPr>
              <a:t>slide elements </a:t>
            </a:r>
            <a:r>
              <a:rPr lang="en-US" sz="1050" dirty="0"/>
              <a:t>that you can use in your presentations. </a:t>
            </a:r>
          </a:p>
          <a:p>
            <a:pPr>
              <a:spcAft>
                <a:spcPts val="600"/>
              </a:spcAft>
            </a:pPr>
            <a:r>
              <a:rPr lang="en-US" sz="1050" dirty="0"/>
              <a:t>There is also a connection to the </a:t>
            </a:r>
            <a:r>
              <a:rPr lang="en-US" sz="1050" b="1" dirty="0">
                <a:solidFill>
                  <a:srgbClr val="0B5ED7"/>
                </a:solidFill>
              </a:rPr>
              <a:t>Philips Asset Library (PAL) </a:t>
            </a:r>
            <a:r>
              <a:rPr lang="en-US" sz="1050" dirty="0"/>
              <a:t>for photos.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177A592-DE6D-E034-EE26-6E11B0A81D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3237" y="240930"/>
            <a:ext cx="7780151" cy="831870"/>
          </a:xfrm>
          <a:prstGeom prst="rect">
            <a:avLst/>
          </a:prstGeom>
          <a:noFill/>
        </p:spPr>
        <p:txBody>
          <a:bodyPr vert="horz" lIns="0" tIns="9144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BDF0FF"/>
                </a:solidFill>
                <a:latin typeface="+mn-lt"/>
              </a:rPr>
              <a:t>FAQ: </a:t>
            </a:r>
            <a:r>
              <a:rPr lang="en-US" sz="1400" dirty="0">
                <a:solidFill>
                  <a:schemeClr val="bg1"/>
                </a:solidFill>
              </a:rPr>
              <a:t>Why should I use Templafy?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BDF0FF"/>
                </a:solidFill>
                <a:latin typeface="+mn-lt"/>
              </a:rPr>
              <a:t>Answer: </a:t>
            </a:r>
            <a:r>
              <a:rPr lang="en-US" sz="1400" dirty="0">
                <a:solidFill>
                  <a:schemeClr val="bg1"/>
                </a:solidFill>
              </a:rPr>
              <a:t>We continuously improve our asset libraries in Templafy. The premade templates and resources will save you time while keeping your output current, amplifying the Philips brand.</a:t>
            </a:r>
          </a:p>
          <a:p>
            <a:pPr>
              <a:spcAft>
                <a:spcPts val="600"/>
              </a:spcAft>
            </a:pP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7A12D0-F1C0-1526-5446-BF8AA9A44B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77517" y="-13069"/>
            <a:ext cx="166648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91440" rIns="91440" bIns="9144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600" b="1" dirty="0">
                <a:solidFill>
                  <a:schemeClr val="bg1"/>
                </a:solidFill>
              </a:rPr>
              <a:t>Delete this resource slide before sharing your file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7925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4="http://schemas.microsoft.com/office/drawing/2010/main" xmlns:adec="http://schemas.microsoft.com/office/drawing/2017/decorative" xmlns:a16="http://schemas.microsoft.com/office/drawing/2014/main"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A6A2A5-6110-7A44-BE3F-164976BC2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2377440" cy="514350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Aft>
                <a:spcPts val="600"/>
              </a:spcAft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6F0831-B5D8-5F5E-F030-C8404E9CD5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US" smtClean="0">
                <a:solidFill>
                  <a:schemeClr val="bg1"/>
                </a:solidFill>
              </a:rPr>
              <a:pPr/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Title 137" hidden="1">
            <a:extLst>
              <a:ext uri="{FF2B5EF4-FFF2-40B4-BE49-F238E27FC236}">
                <a16:creationId xmlns:a16="http://schemas.microsoft.com/office/drawing/2014/main" id="{54C64325-D078-65FF-CA1F-00EFEEEDE7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776288"/>
            <a:ext cx="8137525" cy="1778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FAQ: Why do we have a Why do we have a new PowerPoint template? What’s different?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alpha val="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60" name="Group 59" descr="Color palette and layouts">
            <a:extLst>
              <a:ext uri="{FF2B5EF4-FFF2-40B4-BE49-F238E27FC236}">
                <a16:creationId xmlns:a16="http://schemas.microsoft.com/office/drawing/2014/main" id="{E82FEF26-8583-5D09-CAF0-CDEB820572A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802324" y="3528852"/>
            <a:ext cx="6126740" cy="1156483"/>
            <a:chOff x="2802324" y="3528852"/>
            <a:chExt cx="6126740" cy="115648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393DAE-8741-6740-3D1C-8E6CB4989A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97349" y="3551102"/>
              <a:ext cx="3531715" cy="1031051"/>
            </a:xfrm>
            <a:prstGeom prst="rect">
              <a:avLst/>
            </a:prstGeom>
            <a:noFill/>
          </p:spPr>
          <p:txBody>
            <a:bodyPr wrap="square" lIns="0" t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900" b="1" dirty="0">
                  <a:solidFill>
                    <a:srgbClr val="0B5ED7"/>
                  </a:solidFill>
                </a:rPr>
                <a:t>Color palette and layouts</a:t>
              </a:r>
            </a:p>
            <a:p>
              <a:pPr>
                <a:spcAft>
                  <a:spcPts val="600"/>
                </a:spcAft>
              </a:pPr>
              <a:r>
                <a:rPr lang="en-US" sz="900" dirty="0"/>
                <a:t>A simplified core color palette indicates unity. We lead with our heritage color: Philips blue, complimented by white, light blue, and dark blue.</a:t>
              </a:r>
            </a:p>
            <a:p>
              <a:pPr>
                <a:spcAft>
                  <a:spcPts val="600"/>
                </a:spcAft>
              </a:pPr>
              <a:r>
                <a:rPr lang="en-US" sz="900" dirty="0"/>
                <a:t>Previous layouts now utilize the core palette, resulting in fewer main template slides. Supplemental, premade slides with colored accents will be supplied in Templafy. Check Templafy regularly for ongoing updates.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63C8CA4-A730-5574-654B-6131ED4971E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802324" y="3528852"/>
              <a:ext cx="2188031" cy="1156483"/>
              <a:chOff x="2802324" y="3528852"/>
              <a:chExt cx="2188031" cy="1156483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DB820B-7891-39E3-DD98-6F999A713F9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02324" y="4593002"/>
                <a:ext cx="305082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n-US" sz="600" i="1" dirty="0">
                    <a:solidFill>
                      <a:schemeClr val="bg1">
                        <a:lumMod val="50000"/>
                      </a:schemeClr>
                    </a:solidFill>
                  </a:rPr>
                  <a:t>New</a:t>
                </a:r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4F86A30E-B8E5-BEDF-6FDF-F316BCB6A11E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802324" y="3528852"/>
                <a:ext cx="970671" cy="1051560"/>
                <a:chOff x="2802324" y="3528852"/>
                <a:chExt cx="970671" cy="1051560"/>
              </a:xfrm>
            </p:grpSpPr>
            <p:pic>
              <p:nvPicPr>
                <p:cNvPr id="14" name="Picture 13" descr="A screenshot of a color chart">
                  <a:extLst>
                    <a:ext uri="{FF2B5EF4-FFF2-40B4-BE49-F238E27FC236}">
                      <a16:creationId xmlns:a16="http://schemas.microsoft.com/office/drawing/2014/main" id="{CBCF3EA8-704D-148F-FC0B-D5B79D56618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57" t="1397" r="914" b="5155"/>
                <a:stretch/>
              </p:blipFill>
              <p:spPr>
                <a:xfrm>
                  <a:off x="2802324" y="3528852"/>
                  <a:ext cx="970671" cy="1051560"/>
                </a:xfrm>
                <a:prstGeom prst="rect">
                  <a:avLst/>
                </a:prstGeom>
              </p:spPr>
            </p:pic>
            <p:sp>
              <p:nvSpPr>
                <p:cNvPr id="16" name="Rectangle 15" descr="Box excluding select colors">
                  <a:extLst>
                    <a:ext uri="{FF2B5EF4-FFF2-40B4-BE49-F238E27FC236}">
                      <a16:creationId xmlns:a16="http://schemas.microsoft.com/office/drawing/2014/main" id="{FAC93DD8-CC57-3556-43FF-D78DB8F0789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842169" y="3755784"/>
                  <a:ext cx="886620" cy="390349"/>
                </a:xfrm>
                <a:prstGeom prst="rect">
                  <a:avLst/>
                </a:prstGeom>
                <a:solidFill>
                  <a:srgbClr val="ECECEC">
                    <a:alpha val="85000"/>
                  </a:srgbClr>
                </a:solidFill>
                <a:ln w="9525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18288" rtlCol="0" anchor="ctr"/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sz="500" dirty="0">
                      <a:solidFill>
                        <a:srgbClr val="FF0000"/>
                      </a:solidFill>
                    </a:rPr>
                    <a:t>Do not use these colors</a:t>
                  </a: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C3A3AB2-97BA-331A-D3A6-C4755E837059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>
                <a:xfrm>
                  <a:off x="3380575" y="3987982"/>
                  <a:ext cx="347416" cy="15161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B8B06813-B5C0-EAB0-3385-334F768DE8B5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>
                <a:xfrm flipH="1">
                  <a:off x="2838596" y="3987982"/>
                  <a:ext cx="347416" cy="15161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518FE96-3FB7-0D79-B3ED-87ABCC9F9F03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>
                <a:xfrm flipH="1">
                  <a:off x="3372649" y="3755785"/>
                  <a:ext cx="355342" cy="152912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A60B64ED-789C-407E-9C30-1B1DD6E2F3E1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>
                <a:xfrm>
                  <a:off x="2838596" y="3755785"/>
                  <a:ext cx="355342" cy="152912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BD3765C8-F068-F59F-B8C0-4FB9B6508E29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791536" y="3555996"/>
                <a:ext cx="1198819" cy="1046440"/>
                <a:chOff x="3791536" y="3555996"/>
                <a:chExt cx="1198819" cy="1046440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18AFDFE-3C99-0861-7664-6FC1149166D0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3980302" y="3555996"/>
                  <a:ext cx="1010053" cy="10464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7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Use colors from the </a:t>
                  </a:r>
                  <a:br>
                    <a:rPr lang="en-US" sz="7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</a:br>
                  <a:r>
                    <a:rPr lang="en-US" sz="7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Theme Colors</a:t>
                  </a:r>
                  <a:r>
                    <a:rPr lang="en-US" sz="7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top row. 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en-US" sz="7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Avoid using Microsoft-generated shades, as they are not part of the Philips visual identity. 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en-US" sz="7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Instead, use shades provided under </a:t>
                  </a:r>
                  <a:br>
                    <a:rPr lang="en-US" sz="7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</a:br>
                  <a:r>
                    <a:rPr lang="en-US" sz="7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Custom Colors</a:t>
                  </a:r>
                  <a:r>
                    <a:rPr lang="en-US" sz="7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. </a:t>
                  </a:r>
                </a:p>
              </p:txBody>
            </p: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765A8B4A-1B0D-AF4D-F946-B87E40786783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>
                <a:xfrm>
                  <a:off x="3791536" y="4443427"/>
                  <a:ext cx="137160" cy="0"/>
                </a:xfrm>
                <a:prstGeom prst="line">
                  <a:avLst/>
                </a:prstGeom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  <a:headEnd type="triangle" w="sm" len="sm"/>
                  <a:tailEnd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89586D6C-25FA-6511-437A-4B146D58E589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>
                <a:xfrm>
                  <a:off x="3791536" y="4025144"/>
                  <a:ext cx="137160" cy="0"/>
                </a:xfrm>
                <a:prstGeom prst="line">
                  <a:avLst/>
                </a:prstGeom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  <a:headEnd type="triangle" w="sm" len="sm"/>
                  <a:tailEnd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791E173F-FED4-470F-B678-997E29C584DA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>
                <a:xfrm>
                  <a:off x="3791536" y="3672361"/>
                  <a:ext cx="137160" cy="0"/>
                </a:xfrm>
                <a:prstGeom prst="line">
                  <a:avLst/>
                </a:prstGeom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  <a:headEnd type="triangle" w="sm" len="sm"/>
                  <a:tailEnd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6" name="Group 55" descr="Shield vs. logo">
            <a:extLst>
              <a:ext uri="{FF2B5EF4-FFF2-40B4-BE49-F238E27FC236}">
                <a16:creationId xmlns:a16="http://schemas.microsoft.com/office/drawing/2014/main" id="{18E80A69-B94D-E8B5-8273-935FE1FD2AB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802324" y="1920352"/>
            <a:ext cx="5831726" cy="1157257"/>
            <a:chOff x="2802324" y="1920352"/>
            <a:chExt cx="5831726" cy="115725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52784F9-F764-07E6-3791-803D1BEC2DE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97349" y="2108327"/>
              <a:ext cx="3236701" cy="892552"/>
            </a:xfrm>
            <a:prstGeom prst="rect">
              <a:avLst/>
            </a:prstGeom>
            <a:noFill/>
          </p:spPr>
          <p:txBody>
            <a:bodyPr wrap="square" lIns="0" t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900" b="1" dirty="0">
                  <a:solidFill>
                    <a:srgbClr val="0B5ED7"/>
                  </a:solidFill>
                </a:rPr>
                <a:t>Shield vs. logo</a:t>
              </a:r>
            </a:p>
            <a:p>
              <a:pPr>
                <a:spcAft>
                  <a:spcPts val="600"/>
                </a:spcAft>
              </a:pPr>
              <a:r>
                <a:rPr lang="en-US" sz="900" dirty="0"/>
                <a:t>Our logo now sits at the bottom of our content slides, replacing the shield that used to be at the top. </a:t>
              </a:r>
            </a:p>
            <a:p>
              <a:pPr>
                <a:spcAft>
                  <a:spcPts val="600"/>
                </a:spcAft>
              </a:pPr>
              <a:r>
                <a:rPr lang="en-US" sz="900" dirty="0"/>
                <a:t>The shield now serves as a quality stamp/credential on advertising and packaging. Discover more </a:t>
              </a:r>
              <a:r>
                <a:rPr lang="en-US" sz="900" dirty="0">
                  <a:hlinkClick r:id="rId6"/>
                </a:rPr>
                <a:t>here</a:t>
              </a:r>
              <a:r>
                <a:rPr lang="en-US" sz="900" dirty="0"/>
                <a:t>. 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F8EFC23-61B5-7C5C-220A-F5DE613B7F7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802324" y="1920352"/>
              <a:ext cx="1160524" cy="763486"/>
              <a:chOff x="2802324" y="1920352"/>
              <a:chExt cx="1160524" cy="763486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C9CC1C4-5E5F-B453-71DD-D5447C0BF9D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05607" y="2591505"/>
                <a:ext cx="305082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n-US" sz="600" i="1" dirty="0">
                    <a:solidFill>
                      <a:schemeClr val="bg1">
                        <a:lumMod val="50000"/>
                      </a:schemeClr>
                    </a:solidFill>
                  </a:rPr>
                  <a:t>Old</a:t>
                </a: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D771995-A477-F45E-3891-11DAA5E748E9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802324" y="1920352"/>
                <a:ext cx="1160524" cy="652795"/>
                <a:chOff x="2802324" y="1920352"/>
                <a:chExt cx="1160524" cy="652795"/>
              </a:xfrm>
            </p:grpSpPr>
            <p:pic>
              <p:nvPicPr>
                <p:cNvPr id="28" name="Picture 27" descr="A screenshot of a browser a slide from the old template">
                  <a:extLst>
                    <a:ext uri="{FF2B5EF4-FFF2-40B4-BE49-F238E27FC236}">
                      <a16:creationId xmlns:a16="http://schemas.microsoft.com/office/drawing/2014/main" id="{5789C1E7-99DB-9B27-5BAA-7D575F65A86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02324" y="1920352"/>
                  <a:ext cx="1160524" cy="652795"/>
                </a:xfrm>
                <a:prstGeom prst="rect">
                  <a:avLst/>
                </a:prstGeom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</p:pic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BA2F5CA2-B382-4C25-3BF5-A2E5613A0B0C}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/>
                </p:cNvSpPr>
                <p:nvPr/>
              </p:nvSpPr>
              <p:spPr>
                <a:xfrm>
                  <a:off x="3825263" y="1924434"/>
                  <a:ext cx="100298" cy="100298"/>
                </a:xfrm>
                <a:prstGeom prst="ellipse">
                  <a:avLst/>
                </a:prstGeom>
                <a:noFill/>
                <a:ln w="6350" cap="flat" cmpd="sng" algn="ctr">
                  <a:solidFill>
                    <a:srgbClr val="D43F44"/>
                  </a:solidFill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spcAft>
                      <a:spcPts val="600"/>
                    </a:spcAft>
                  </a:pP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648BA4F-FF23-ECC4-2D7C-D7E9B56F6A0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502735" y="2097686"/>
              <a:ext cx="1554480" cy="979923"/>
              <a:chOff x="3502735" y="2097686"/>
              <a:chExt cx="1554480" cy="979923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DF5B2EB-9B8E-23BB-38BD-40C2B06A7F24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08790" y="2985276"/>
                <a:ext cx="305082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n-US" sz="600" i="1" dirty="0">
                    <a:solidFill>
                      <a:schemeClr val="bg1">
                        <a:lumMod val="50000"/>
                      </a:schemeClr>
                    </a:solidFill>
                  </a:rPr>
                  <a:t>New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335EE713-290B-42EB-7016-51AAC021B786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502735" y="2097686"/>
                <a:ext cx="1554480" cy="900018"/>
                <a:chOff x="3502735" y="2097686"/>
                <a:chExt cx="1554480" cy="900018"/>
              </a:xfrm>
            </p:grpSpPr>
            <p:pic>
              <p:nvPicPr>
                <p:cNvPr id="31" name="Picture 30" descr="A screenshot of a slide from the new template">
                  <a:extLst>
                    <a:ext uri="{FF2B5EF4-FFF2-40B4-BE49-F238E27FC236}">
                      <a16:creationId xmlns:a16="http://schemas.microsoft.com/office/drawing/2014/main" id="{569E1DAB-645F-E147-5702-F0732082EF3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02735" y="2097686"/>
                  <a:ext cx="1554480" cy="874395"/>
                </a:xfrm>
                <a:prstGeom prst="rect">
                  <a:avLst/>
                </a:prstGeom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</p:pic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1CA9722-5C1F-1E64-E6CB-1CA9FD739FB9}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/>
                </p:cNvSpPr>
                <p:nvPr/>
              </p:nvSpPr>
              <p:spPr>
                <a:xfrm>
                  <a:off x="4895716" y="2866709"/>
                  <a:ext cx="131160" cy="130995"/>
                </a:xfrm>
                <a:prstGeom prst="ellipse">
                  <a:avLst/>
                </a:prstGeom>
                <a:noFill/>
                <a:ln w="6350" cap="flat" cmpd="sng" algn="ctr">
                  <a:solidFill>
                    <a:srgbClr val="D43F44"/>
                  </a:solidFill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spcAft>
                      <a:spcPts val="600"/>
                    </a:spcAft>
                  </a:pP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grpSp>
        <p:nvGrpSpPr>
          <p:cNvPr id="55" name="Group 54" descr="Logo style and layouts">
            <a:extLst>
              <a:ext uri="{FF2B5EF4-FFF2-40B4-BE49-F238E27FC236}">
                <a16:creationId xmlns:a16="http://schemas.microsoft.com/office/drawing/2014/main" id="{6D64BF08-0411-61E7-A1AF-9DC8355D14A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805607" y="357880"/>
            <a:ext cx="6223279" cy="1179596"/>
            <a:chOff x="2805607" y="357880"/>
            <a:chExt cx="6223279" cy="117959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2EC5431-8D93-2580-8054-3E3125B849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97349" y="506425"/>
              <a:ext cx="3631537" cy="1031051"/>
            </a:xfrm>
            <a:prstGeom prst="rect">
              <a:avLst/>
            </a:prstGeom>
            <a:noFill/>
          </p:spPr>
          <p:txBody>
            <a:bodyPr wrap="square" lIns="0" tIns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900" b="1" dirty="0">
                  <a:solidFill>
                    <a:srgbClr val="0B5ED7"/>
                  </a:solidFill>
                </a:rPr>
                <a:t>Logo style and layouts</a:t>
              </a:r>
            </a:p>
            <a:p>
              <a:pPr>
                <a:spcAft>
                  <a:spcPts val="600"/>
                </a:spcAft>
              </a:pPr>
              <a:r>
                <a:rPr lang="en-US" sz="900" dirty="0"/>
                <a:t>Our logo is now free from the Philips Shape holding device. The logo must be Philips blue or white and can appear horizontally or vertically on colored backgrounds and photos.</a:t>
              </a:r>
            </a:p>
            <a:p>
              <a:pPr>
                <a:spcAft>
                  <a:spcPts val="600"/>
                </a:spcAft>
              </a:pPr>
              <a:r>
                <a:rPr lang="en-US" sz="900" dirty="0"/>
                <a:t>We apply our logo in a bold and iconic fashion, reflecting pride in our brand.</a:t>
              </a:r>
              <a:br>
                <a:rPr lang="en-US" sz="900" dirty="0"/>
              </a:br>
              <a:r>
                <a:rPr lang="en-US" sz="900" dirty="0"/>
                <a:t>Visit </a:t>
              </a:r>
              <a:r>
                <a:rPr lang="en-US" sz="900" dirty="0">
                  <a:solidFill>
                    <a:srgbClr val="0B5ED7"/>
                  </a:solidFill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Our Brand</a:t>
              </a:r>
              <a:r>
                <a:rPr lang="en-US" sz="900" dirty="0">
                  <a:solidFill>
                    <a:srgbClr val="0B5ED7"/>
                  </a:solidFill>
                </a:rPr>
                <a:t> </a:t>
              </a:r>
              <a:r>
                <a:rPr lang="en-US" sz="900" dirty="0"/>
                <a:t>to learn more.  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3CE5500-2069-CA03-94CB-C57ABBEC1FB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805607" y="357880"/>
              <a:ext cx="1188719" cy="765095"/>
              <a:chOff x="2805607" y="357880"/>
              <a:chExt cx="1188719" cy="765095"/>
            </a:xfrm>
          </p:grpSpPr>
          <p:pic>
            <p:nvPicPr>
              <p:cNvPr id="36" name="Picture 35" descr="A cover slide from the old template">
                <a:extLst>
                  <a:ext uri="{FF2B5EF4-FFF2-40B4-BE49-F238E27FC236}">
                    <a16:creationId xmlns:a16="http://schemas.microsoft.com/office/drawing/2014/main" id="{ABBC8D21-C4B8-306B-6392-BE16C5E6F32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05607" y="357880"/>
                <a:ext cx="1188719" cy="668655"/>
              </a:xfrm>
              <a:prstGeom prst="rect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C9E05EC-153D-4828-8AFC-192A7B81D8A5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05607" y="1030642"/>
                <a:ext cx="305082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n-US" sz="600" i="1" dirty="0">
                    <a:solidFill>
                      <a:schemeClr val="bg1">
                        <a:lumMod val="50000"/>
                      </a:schemeClr>
                    </a:solidFill>
                  </a:rPr>
                  <a:t>Old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ACDF364-FB88-14EC-519A-27AD36132DF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507049" y="535330"/>
              <a:ext cx="1554481" cy="981416"/>
              <a:chOff x="3507049" y="535330"/>
              <a:chExt cx="1554481" cy="981416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9FCFEE8-BEEF-075A-5800-04FB5CED679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507049" y="1424413"/>
                <a:ext cx="305082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n-US" sz="600" i="1" dirty="0">
                    <a:solidFill>
                      <a:schemeClr val="bg1">
                        <a:lumMod val="50000"/>
                      </a:schemeClr>
                    </a:solidFill>
                  </a:rPr>
                  <a:t>New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E72570F8-0EEC-574D-5560-CF4CC946D693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507049" y="535330"/>
                <a:ext cx="1554481" cy="888195"/>
                <a:chOff x="3507049" y="535330"/>
                <a:chExt cx="1554481" cy="888195"/>
              </a:xfrm>
            </p:grpSpPr>
            <p:pic>
              <p:nvPicPr>
                <p:cNvPr id="41" name="Picture 40" descr="A cover slide from the new template">
                  <a:extLst>
                    <a:ext uri="{FF2B5EF4-FFF2-40B4-BE49-F238E27FC236}">
                      <a16:creationId xmlns:a16="http://schemas.microsoft.com/office/drawing/2014/main" id="{0901AEA1-5F37-6057-0020-227108F4E1A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2578" y="996614"/>
                  <a:ext cx="758952" cy="426911"/>
                </a:xfrm>
                <a:prstGeom prst="rect">
                  <a:avLst/>
                </a:prstGeom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</p:pic>
            <p:pic>
              <p:nvPicPr>
                <p:cNvPr id="44" name="Picture 43" descr="A cover slide from the new template">
                  <a:extLst>
                    <a:ext uri="{FF2B5EF4-FFF2-40B4-BE49-F238E27FC236}">
                      <a16:creationId xmlns:a16="http://schemas.microsoft.com/office/drawing/2014/main" id="{C4939DA4-2A63-DF64-C129-6B6D1E4CBA7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07049" y="997367"/>
                  <a:ext cx="758952" cy="426158"/>
                </a:xfrm>
                <a:prstGeom prst="rect">
                  <a:avLst/>
                </a:prstGeom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</p:pic>
            <p:pic>
              <p:nvPicPr>
                <p:cNvPr id="42" name="Picture 41" descr="A cover slide from the new template">
                  <a:extLst>
                    <a:ext uri="{FF2B5EF4-FFF2-40B4-BE49-F238E27FC236}">
                      <a16:creationId xmlns:a16="http://schemas.microsoft.com/office/drawing/2014/main" id="{E4BA16D3-BF1C-20CF-4B59-8F597830327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2578" y="535330"/>
                  <a:ext cx="758952" cy="425857"/>
                </a:xfrm>
                <a:prstGeom prst="rect">
                  <a:avLst/>
                </a:prstGeom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</p:pic>
            <p:pic>
              <p:nvPicPr>
                <p:cNvPr id="45" name="Picture 44" descr="A cover slide from the new template">
                  <a:extLst>
                    <a:ext uri="{FF2B5EF4-FFF2-40B4-BE49-F238E27FC236}">
                      <a16:creationId xmlns:a16="http://schemas.microsoft.com/office/drawing/2014/main" id="{FC7A65E9-3856-E8BC-243D-9FEB74298A6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07049" y="535330"/>
                  <a:ext cx="758952" cy="426911"/>
                </a:xfrm>
                <a:prstGeom prst="rect">
                  <a:avLst/>
                </a:prstGeom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</p:pic>
          </p:grpSp>
        </p:grpSp>
      </p:grpSp>
      <p:sp>
        <p:nvSpPr>
          <p:cNvPr id="46" name="Title 1">
            <a:extLst>
              <a:ext uri="{FF2B5EF4-FFF2-40B4-BE49-F238E27FC236}">
                <a16:creationId xmlns:a16="http://schemas.microsoft.com/office/drawing/2014/main" id="{7E2051DF-1EA8-39CC-C649-645EC76D1F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3638" y="374904"/>
            <a:ext cx="1730164" cy="43490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rgbClr val="BDF0FF"/>
                </a:solidFill>
                <a:latin typeface="+mn-lt"/>
              </a:rPr>
              <a:t>FAQ: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Why do we have a new PowerPoint template?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What’s different?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rgbClr val="BDF0FF"/>
                </a:solidFill>
                <a:latin typeface="+mn-lt"/>
              </a:rPr>
              <a:t>Answer:</a:t>
            </a:r>
          </a:p>
          <a:p>
            <a:r>
              <a:rPr lang="en-US" sz="1400" dirty="0">
                <a:solidFill>
                  <a:schemeClr val="bg1"/>
                </a:solidFill>
              </a:rPr>
              <a:t>Our updated visual identity will be reflected across all brand touchpoints, including digital presentations.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View the key changes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to the right. 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Explore Our Brand for details about the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brand refresh</a:t>
            </a:r>
            <a:r>
              <a:rPr lang="en-US" sz="1400" dirty="0">
                <a:solidFill>
                  <a:schemeClr val="bg1"/>
                </a:solidFill>
              </a:rPr>
              <a:t> and a PowerPoint </a:t>
            </a:r>
            <a:r>
              <a:rPr lang="en-US" sz="1400" dirty="0">
                <a:solidFill>
                  <a:schemeClr val="bg1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 guide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9DCE9-864A-9990-8368-43FF79D9657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77517" y="-13069"/>
            <a:ext cx="166648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91440" rIns="91440" bIns="9144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Delete this resource slide before sharing your file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65962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a14="http://schemas.microsoft.com/office/drawing/2010/main" xmlns:adec="http://schemas.microsoft.com/office/drawing/2017/decorative" xmlns:a16="http://schemas.microsoft.com/office/drawing/2014/main"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4294F-C888-C3A2-8CE8-5035923821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DD03E-C5E4-5B3B-E1A6-63B08082597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0FD810-861C-8EF2-52CF-99FFEAD5A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Click to add text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F7F283-C47B-3C2A-4CB4-512C49427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</a:t>
            </a:r>
            <a:r>
              <a:rPr lang="en-US"/>
              <a:t>your headline </a:t>
            </a:r>
            <a:r>
              <a:rPr lang="en-US" dirty="0"/>
              <a:t>here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5841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93481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A48BB3-A2F8-5147-98FB-30E02B1C7AEF}">
  <we:reference id="54c7af0c-5b65-49a9-ab86-f2a8a4690127" version="2.0.0.3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1,"isValidatorEnabled":false,"isLocked":false,"elementsMetadata":[],"slideId":"1387266672037986306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387266672037986309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1,"isValidatorEnabled":false,"isLocked":false,"elementsMetadata":[],"slideId":"1387266672037986304","enableDocumentContentUpdater":false,"version":"2.0"}]]></TemplafySlideTemplateConfiguration>
</file>

<file path=customXml/item7.xml><?xml version="1.0" encoding="utf-8"?>
<TemplafyFormConfiguration><![CDATA[{"formFields":[],"formDataEntries":[]}]]></Templafy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TemplateConfiguration><![CDATA[{"elementsMetadata":[],"transformationConfigurations":[],"templateName":"Philips Master Template (updated margins)","templateDescription":"","enableDocumentContentUpdater":false,"version":"2.0"}]]></Templafy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1,"isValidatorEnabled":false,"isLocked":false,"elementsMetadata":[],"slideId":"1387266672037986308","enableDocumentContentUpdater":false,"version":"2.0"}]]></TemplafySlideTemplateConfiguration>
</file>

<file path=customXml/item12.xml><?xml version="1.0" encoding="utf-8"?>
<TemplafySlideTemplateConfiguration><![CDATA[{"slideVersion":1,"isValidatorEnabled":false,"isLocked":false,"elementsMetadata":[],"slideId":"1387266672037986307","enableDocumentContentUpdater":false,"version":"2.0"}]]></TemplafySlideTemplateConfiguration>
</file>

<file path=customXml/item13.xml><?xml version="1.0" encoding="utf-8"?>
<TemplafySlideTemplateConfiguration><![CDATA[{"slideVersion":1,"isValidatorEnabled":false,"isLocked":false,"elementsMetadata":[],"slideId":"1387266672037986305","enableDocumentContentUpdater":false,"version":"2.0"}]]></TemplafySlideTemplateConfiguration>
</file>

<file path=customXml/item14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71EEB487-3A98-4BB3-9C32-E1BF7CB2B049}">
  <ds:schemaRefs/>
</ds:datastoreItem>
</file>

<file path=customXml/itemProps2.xml><?xml version="1.0" encoding="utf-8"?>
<ds:datastoreItem xmlns:ds="http://schemas.openxmlformats.org/officeDocument/2006/customXml" ds:itemID="{AD47EACD-E635-49D4-A097-0E43F0B85C6E}">
  <ds:schemaRefs/>
</ds:datastoreItem>
</file>

<file path=customXml/itemProps3.xml><?xml version="1.0" encoding="utf-8"?>
<ds:datastoreItem xmlns:ds="http://schemas.openxmlformats.org/officeDocument/2006/customXml" ds:itemID="{BE45EE7F-190A-4156-80B9-28508EF987A5}">
  <ds:schemaRefs/>
</ds:datastoreItem>
</file>

<file path=customXml/itemProps4.xml><?xml version="1.0" encoding="utf-8"?>
<ds:datastoreItem xmlns:ds="http://schemas.openxmlformats.org/officeDocument/2006/customXml" ds:itemID="{91AB6EA3-3FA0-48D1-A667-58CAAF3B0157}">
  <ds:schemaRefs/>
</ds:datastoreItem>
</file>

<file path=customXml/itemProps5.xml><?xml version="1.0" encoding="utf-8"?>
<ds:datastoreItem xmlns:ds="http://schemas.openxmlformats.org/officeDocument/2006/customXml" ds:itemID="{6BF8525C-62B9-4321-91B7-FFEFD4A5025A}">
  <ds:schemaRefs/>
</ds:datastoreItem>
</file>

<file path=customXml/itemProps6.xml><?xml version="1.0" encoding="utf-8"?>
<ds:datastoreItem xmlns:ds="http://schemas.openxmlformats.org/officeDocument/2006/customXml" ds:itemID="{12862C41-9AA5-4054-B274-571189BF0734}">
  <ds:schemaRefs/>
</ds:datastoreItem>
</file>

<file path=customXml/itemProps7.xml><?xml version="1.0" encoding="utf-8"?>
<ds:datastoreItem xmlns:ds="http://schemas.openxmlformats.org/officeDocument/2006/customXml" ds:itemID="{758FF650-907C-428F-AD7B-6BA9D849A6CB}">
  <ds:schemaRefs/>
</ds:datastoreItem>
</file>

<file path=customXml/itemProps8.xml><?xml version="1.0" encoding="utf-8"?>
<ds:datastoreItem xmlns:ds="http://schemas.openxmlformats.org/officeDocument/2006/customXml" ds:itemID="{7C1683C8-DC40-4BCD-9B06-1DD2525FB765}">
  <ds:schemaRefs/>
</ds:datastoreItem>
</file>

<file path=customXml/itemProps9.xml><?xml version="1.0" encoding="utf-8"?>
<ds:datastoreItem xmlns:ds="http://schemas.openxmlformats.org/officeDocument/2006/customXml" ds:itemID="{BFBCB3F7-860C-40CC-8532-A042390E68D6}">
  <ds:schemaRefs/>
</ds:datastoreItem>
</file>

<file path=customXml/itemProps10.xml><?xml version="1.0" encoding="utf-8"?>
<ds:datastoreItem xmlns:ds="http://schemas.openxmlformats.org/officeDocument/2006/customXml" ds:itemID="{4198D9F2-3AA6-4BD9-B099-428B8E1FD65E}">
  <ds:schemaRefs/>
</ds:datastoreItem>
</file>

<file path=customXml/itemProps11.xml><?xml version="1.0" encoding="utf-8"?>
<ds:datastoreItem xmlns:ds="http://schemas.openxmlformats.org/officeDocument/2006/customXml" ds:itemID="{B2E38FC4-1533-4A92-B582-8C6E853F1307}">
  <ds:schemaRefs/>
</ds:datastoreItem>
</file>

<file path=customXml/itemProps12.xml><?xml version="1.0" encoding="utf-8"?>
<ds:datastoreItem xmlns:ds="http://schemas.openxmlformats.org/officeDocument/2006/customXml" ds:itemID="{316B6761-9520-4C53-9CDB-7A06714FB9AD}">
  <ds:schemaRefs/>
</ds:datastoreItem>
</file>

<file path=customXml/itemProps13.xml><?xml version="1.0" encoding="utf-8"?>
<ds:datastoreItem xmlns:ds="http://schemas.openxmlformats.org/officeDocument/2006/customXml" ds:itemID="{62240D67-2A93-41BD-81EB-B53980048919}">
  <ds:schemaRefs/>
</ds:datastoreItem>
</file>

<file path=customXml/itemProps14.xml><?xml version="1.0" encoding="utf-8"?>
<ds:datastoreItem xmlns:ds="http://schemas.openxmlformats.org/officeDocument/2006/customXml" ds:itemID="{A6B36AB5-24CA-4029-9FB5-25F24ED71B7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692</Words>
  <Application>Microsoft Office PowerPoint</Application>
  <PresentationFormat>On-screen Show (16:9)</PresentationFormat>
  <Paragraphs>77</Paragraphs>
  <Slides>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Slide Master Only: November 2024</vt:lpstr>
      <vt:lpstr>think-cell Slide</vt:lpstr>
      <vt:lpstr>Presentation cover slide example: Vertical white logo on blue background</vt:lpstr>
      <vt:lpstr>FAQ: How do I create a presentation using the new template? </vt:lpstr>
      <vt:lpstr>FAQ: Why should I use Templafy?</vt:lpstr>
      <vt:lpstr>FAQ: Why do we have a Why do we have a new PowerPoint template? What’s different? </vt:lpstr>
      <vt:lpstr>Type your headline here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Corporate PowerPoint Template</dc:title>
  <dc:subject/>
  <dc:creator/>
  <cp:keywords/>
  <dc:description/>
  <cp:lastModifiedBy>Panigrahi, Amrit Kumar</cp:lastModifiedBy>
  <cp:revision>1</cp:revision>
  <dcterms:created xsi:type="dcterms:W3CDTF">2026-02-16T06:23:41Z</dcterms:created>
  <dcterms:modified xsi:type="dcterms:W3CDTF">2026-05-11T15:48:32Z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2026-02-13T04:51:36</vt:lpwstr>
  </property>
  <property fmtid="{D5CDD505-2E9C-101B-9397-08002B2CF9AE}" pid="3" name="TemplafyTenantId">
    <vt:lpwstr>philips</vt:lpwstr>
  </property>
  <property fmtid="{D5CDD505-2E9C-101B-9397-08002B2CF9AE}" pid="4" name="TemplafyTemplateId">
    <vt:lpwstr>1387266663660127309</vt:lpwstr>
  </property>
  <property fmtid="{D5CDD505-2E9C-101B-9397-08002B2CF9AE}" pid="5" name="TemplafyUserProfileId">
    <vt:lpwstr>637697377326175314</vt:lpwstr>
  </property>
  <property fmtid="{D5CDD505-2E9C-101B-9397-08002B2CF9AE}" pid="6" name="TemplafyFromBlank">
    <vt:bool>true</vt:bool>
  </property>
</Properties>
</file>